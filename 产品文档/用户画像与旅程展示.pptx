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17A2B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58049" y="762000"/>
            <a:ext cx="2578001" cy="3594050"/>
          </a:xfrm>
          <a:prstGeom prst="roundRect">
            <a:avLst>
              <a:gd name="adj" fmla="val 5912"/>
            </a:avLst>
          </a:prstGeom>
          <a:noFill/>
          <a:ln w="19050">
            <a:solidFill>
              <a:srgbClr val="17A2B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267599" y="1015901"/>
            <a:ext cx="2177951" cy="3067050"/>
          </a:xfrm>
          <a:prstGeom prst="roundRect">
            <a:avLst>
              <a:gd name="adj" fmla="val 4665"/>
            </a:avLst>
          </a:prstGeom>
          <a:noFill/>
          <a:ln w="9525">
            <a:solidFill>
              <a:srgbClr val="17A2B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015901"/>
            <a:ext cx="1731318" cy="244376"/>
          </a:xfrm>
          <a:prstGeom prst="roundRect">
            <a:avLst>
              <a:gd name="adj" fmla="val 20788"/>
            </a:avLst>
          </a:prstGeom>
          <a:solidFill>
            <a:srgbClr val="17A2B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85651" y="1066651"/>
            <a:ext cx="140343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 &amp; JOURNEY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1514177"/>
            <a:ext cx="3963772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用户画像与用户旅程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507950" y="2266652"/>
            <a:ext cx="396377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0"/>
              </a:spcAft>
              <a:buNone/>
            </a:pPr>
            <a:r>
              <a:rPr lang="en-US" sz="1800" dirty="0">
                <a:solidFill>
                  <a:srgbClr val="5DA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深圳国际科技信息中心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7950" y="3088928"/>
            <a:ext cx="762000" cy="38100"/>
          </a:xfrm>
          <a:prstGeom prst="roundRect">
            <a:avLst>
              <a:gd name="adj" fmla="val 66667"/>
            </a:avLst>
          </a:prstGeom>
          <a:solidFill>
            <a:srgbClr val="17A2B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07950" y="4172099"/>
            <a:ext cx="396377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深圳市科技创新局 | 项目编号：SZCG2025001150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7950" y="4403824"/>
            <a:ext cx="396377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2026年3月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253901"/>
            <a:ext cx="829066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八大典型用户画像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07950" y="644426"/>
            <a:ext cx="829066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DA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覆盖政府决策者、科研人员、分析师、管理者、运营者、数据管理员、研究生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81000" y="1085552"/>
            <a:ext cx="2254151" cy="1263402"/>
          </a:xfrm>
          <a:prstGeom prst="roundRect">
            <a:avLst>
              <a:gd name="adj" fmla="val 6031"/>
            </a:avLst>
          </a:prstGeom>
          <a:solidFill>
            <a:srgbClr val="132238"/>
          </a:solidFill>
          <a:ln w="9525">
            <a:solidFill>
              <a:srgbClr val="17A2B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17475" y="1196578"/>
            <a:ext cx="279350" cy="279350"/>
          </a:xfrm>
          <a:prstGeom prst="roundRect">
            <a:avLst>
              <a:gd name="adj" fmla="val 27278"/>
            </a:avLst>
          </a:prstGeom>
          <a:solidFill>
            <a:srgbClr val="17A2B8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75965" y="1264741"/>
            <a:ext cx="16561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73026" y="1198066"/>
            <a:ext cx="90399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张局长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73026" y="1359991"/>
            <a:ext cx="90399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科技局领导 | 48岁 | 博士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517475" y="1526679"/>
            <a:ext cx="2020824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0"/>
              </a:lnSpc>
              <a:buNone/>
            </a:pPr>
            <a:r>
              <a:rPr lang="en-US" sz="600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每次决策凭经验+开会，缺少全局数据支撑</a:t>
            </a:r>
            <a:endParaRPr lang="en-US" sz="600" dirty="0"/>
          </a:p>
        </p:txBody>
      </p:sp>
      <p:sp>
        <p:nvSpPr>
          <p:cNvPr id="10" name="Text 8"/>
          <p:cNvSpPr/>
          <p:nvPr/>
        </p:nvSpPr>
        <p:spPr>
          <a:xfrm>
            <a:off x="517475" y="1663750"/>
            <a:ext cx="202082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550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涉及5系统：门户/展示/智库/决策/情报</a:t>
            </a:r>
            <a:endParaRPr lang="en-US" sz="550" dirty="0"/>
          </a:p>
        </p:txBody>
      </p:sp>
      <p:sp>
        <p:nvSpPr>
          <p:cNvPr id="11" name="Text 9"/>
          <p:cNvSpPr/>
          <p:nvPr/>
        </p:nvSpPr>
        <p:spPr>
          <a:xfrm>
            <a:off x="2736652" y="1085552"/>
            <a:ext cx="2254151" cy="1263402"/>
          </a:xfrm>
          <a:prstGeom prst="roundRect">
            <a:avLst>
              <a:gd name="adj" fmla="val 6031"/>
            </a:avLst>
          </a:prstGeom>
          <a:solidFill>
            <a:srgbClr val="132238"/>
          </a:solidFill>
          <a:ln w="9525">
            <a:solidFill>
              <a:srgbClr val="17A2B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873127" y="1196578"/>
            <a:ext cx="279350" cy="279350"/>
          </a:xfrm>
          <a:prstGeom prst="roundRect">
            <a:avLst>
              <a:gd name="adj" fmla="val 27278"/>
            </a:avLst>
          </a:prstGeom>
          <a:solidFill>
            <a:srgbClr val="17A2B8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931616" y="1264741"/>
            <a:ext cx="16561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28677" y="1198066"/>
            <a:ext cx="90399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李研究员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228677" y="1359991"/>
            <a:ext cx="90399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情报分析师 | 35岁 | 硕士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2873127" y="1526679"/>
            <a:ext cx="2020824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0"/>
              </a:lnSpc>
              <a:buNone/>
            </a:pPr>
            <a:r>
              <a:rPr lang="en-US" sz="600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报告要在5个平台查数据，手动整合占80%时间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2873127" y="1663750"/>
            <a:ext cx="202082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550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涉及6系统：专题/搜索/算法/图谱/情报/大数据</a:t>
            </a:r>
            <a:endParaRPr lang="en-US" sz="550" dirty="0"/>
          </a:p>
        </p:txBody>
      </p:sp>
      <p:sp>
        <p:nvSpPr>
          <p:cNvPr id="18" name="Text 16"/>
          <p:cNvSpPr/>
          <p:nvPr/>
        </p:nvSpPr>
        <p:spPr>
          <a:xfrm>
            <a:off x="5092303" y="1085552"/>
            <a:ext cx="2254151" cy="1263402"/>
          </a:xfrm>
          <a:prstGeom prst="roundRect">
            <a:avLst>
              <a:gd name="adj" fmla="val 6031"/>
            </a:avLst>
          </a:prstGeom>
          <a:solidFill>
            <a:srgbClr val="132238"/>
          </a:solidFill>
          <a:ln w="9525">
            <a:solidFill>
              <a:srgbClr val="17A2B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228779" y="1196578"/>
            <a:ext cx="279350" cy="279350"/>
          </a:xfrm>
          <a:prstGeom prst="roundRect">
            <a:avLst>
              <a:gd name="adj" fmla="val 27278"/>
            </a:avLst>
          </a:prstGeom>
          <a:solidFill>
            <a:srgbClr val="17A2B8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287268" y="1264741"/>
            <a:ext cx="16561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584329" y="1198066"/>
            <a:ext cx="90399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周处长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584329" y="1359991"/>
            <a:ext cx="90399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计划管理者 | 42岁 | 硕士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5228779" y="1526679"/>
            <a:ext cx="2020824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0"/>
              </a:lnSpc>
              <a:buNone/>
            </a:pPr>
            <a:r>
              <a:rPr lang="en-US" sz="600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批了项目产出了什么？每笔钱值不值？说不清</a:t>
            </a:r>
            <a:endParaRPr lang="en-US" sz="600" dirty="0"/>
          </a:p>
        </p:txBody>
      </p:sp>
      <p:sp>
        <p:nvSpPr>
          <p:cNvPr id="24" name="Text 22"/>
          <p:cNvSpPr/>
          <p:nvPr/>
        </p:nvSpPr>
        <p:spPr>
          <a:xfrm>
            <a:off x="5228779" y="1663750"/>
            <a:ext cx="202082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550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涉及3系统：展示/资源服务/决策支持</a:t>
            </a:r>
            <a:endParaRPr lang="en-US" sz="550" dirty="0"/>
          </a:p>
        </p:txBody>
      </p:sp>
      <p:sp>
        <p:nvSpPr>
          <p:cNvPr id="25" name="Text 23"/>
          <p:cNvSpPr/>
          <p:nvPr/>
        </p:nvSpPr>
        <p:spPr>
          <a:xfrm>
            <a:off x="381000" y="2450455"/>
            <a:ext cx="2254151" cy="1263402"/>
          </a:xfrm>
          <a:prstGeom prst="roundRect">
            <a:avLst>
              <a:gd name="adj" fmla="val 6031"/>
            </a:avLst>
          </a:prstGeom>
          <a:solidFill>
            <a:srgbClr val="132238"/>
          </a:solidFill>
          <a:ln w="9525">
            <a:solidFill>
              <a:srgbClr val="17A2B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17475" y="2561481"/>
            <a:ext cx="279350" cy="279350"/>
          </a:xfrm>
          <a:prstGeom prst="roundRect">
            <a:avLst>
              <a:gd name="adj" fmla="val 27278"/>
            </a:avLst>
          </a:prstGeom>
          <a:solidFill>
            <a:srgbClr val="17A2B8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75965" y="2629644"/>
            <a:ext cx="16561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73026" y="2562969"/>
            <a:ext cx="98809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王教授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73026" y="2724894"/>
            <a:ext cx="98809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高校科研 | 38岁 | 海归博后</a:t>
            </a:r>
            <a:endParaRPr lang="en-US" sz="650" dirty="0"/>
          </a:p>
        </p:txBody>
      </p:sp>
      <p:sp>
        <p:nvSpPr>
          <p:cNvPr id="30" name="Text 28"/>
          <p:cNvSpPr/>
          <p:nvPr/>
        </p:nvSpPr>
        <p:spPr>
          <a:xfrm>
            <a:off x="517475" y="2891582"/>
            <a:ext cx="2020824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0"/>
              </a:lnSpc>
              <a:buNone/>
            </a:pPr>
            <a:r>
              <a:rPr lang="en-US" sz="600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每天花3小时搜论文，做研究的时间不够</a:t>
            </a:r>
            <a:endParaRPr lang="en-US" sz="600" dirty="0"/>
          </a:p>
        </p:txBody>
      </p:sp>
      <p:sp>
        <p:nvSpPr>
          <p:cNvPr id="31" name="Text 29"/>
          <p:cNvSpPr/>
          <p:nvPr/>
        </p:nvSpPr>
        <p:spPr>
          <a:xfrm>
            <a:off x="517475" y="3028652"/>
            <a:ext cx="202082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550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涉及6系统：门户/搜索/科研智能/智算/图谱/情报</a:t>
            </a:r>
            <a:endParaRPr lang="en-US" sz="550" dirty="0"/>
          </a:p>
        </p:txBody>
      </p:sp>
      <p:sp>
        <p:nvSpPr>
          <p:cNvPr id="32" name="Text 30"/>
          <p:cNvSpPr/>
          <p:nvPr/>
        </p:nvSpPr>
        <p:spPr>
          <a:xfrm>
            <a:off x="2736652" y="2450455"/>
            <a:ext cx="2254151" cy="1263402"/>
          </a:xfrm>
          <a:prstGeom prst="roundRect">
            <a:avLst>
              <a:gd name="adj" fmla="val 6031"/>
            </a:avLst>
          </a:prstGeom>
          <a:solidFill>
            <a:srgbClr val="132238"/>
          </a:solidFill>
          <a:ln w="9525">
            <a:solidFill>
              <a:srgbClr val="17A2B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2873127" y="2561481"/>
            <a:ext cx="279350" cy="279350"/>
          </a:xfrm>
          <a:prstGeom prst="roundRect">
            <a:avLst>
              <a:gd name="adj" fmla="val 27278"/>
            </a:avLst>
          </a:prstGeom>
          <a:solidFill>
            <a:srgbClr val="17A2B8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2931616" y="2629644"/>
            <a:ext cx="16561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U5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228677" y="2562969"/>
            <a:ext cx="90399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陈博士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228677" y="2724894"/>
            <a:ext cx="90399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产业研究员 | 32岁 | 博士</a:t>
            </a:r>
            <a:endParaRPr lang="en-US" sz="650" dirty="0"/>
          </a:p>
        </p:txBody>
      </p:sp>
      <p:sp>
        <p:nvSpPr>
          <p:cNvPr id="37" name="Text 35"/>
          <p:cNvSpPr/>
          <p:nvPr/>
        </p:nvSpPr>
        <p:spPr>
          <a:xfrm>
            <a:off x="2873127" y="2891582"/>
            <a:ext cx="2020824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0"/>
              </a:lnSpc>
              <a:buNone/>
            </a:pPr>
            <a:r>
              <a:rPr lang="en-US" sz="600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论文专利企业政策分属不同系统，无法交叉</a:t>
            </a:r>
            <a:endParaRPr lang="en-US" sz="600" dirty="0"/>
          </a:p>
        </p:txBody>
      </p:sp>
      <p:sp>
        <p:nvSpPr>
          <p:cNvPr id="38" name="Text 36"/>
          <p:cNvSpPr/>
          <p:nvPr/>
        </p:nvSpPr>
        <p:spPr>
          <a:xfrm>
            <a:off x="2873127" y="3028652"/>
            <a:ext cx="202082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550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涉及5系统：资源/智库/专题/图谱/情报</a:t>
            </a:r>
            <a:endParaRPr lang="en-US" sz="550" dirty="0"/>
          </a:p>
        </p:txBody>
      </p:sp>
      <p:sp>
        <p:nvSpPr>
          <p:cNvPr id="39" name="Text 37"/>
          <p:cNvSpPr/>
          <p:nvPr/>
        </p:nvSpPr>
        <p:spPr>
          <a:xfrm>
            <a:off x="5092303" y="2450455"/>
            <a:ext cx="2254151" cy="1263402"/>
          </a:xfrm>
          <a:prstGeom prst="roundRect">
            <a:avLst>
              <a:gd name="adj" fmla="val 6031"/>
            </a:avLst>
          </a:prstGeom>
          <a:solidFill>
            <a:srgbClr val="132238"/>
          </a:solidFill>
          <a:ln w="9525">
            <a:solidFill>
              <a:srgbClr val="17A2B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5228779" y="2561481"/>
            <a:ext cx="279350" cy="279350"/>
          </a:xfrm>
          <a:prstGeom prst="roundRect">
            <a:avLst>
              <a:gd name="adj" fmla="val 27278"/>
            </a:avLst>
          </a:prstGeom>
          <a:solidFill>
            <a:srgbClr val="17A2B8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5287268" y="2629644"/>
            <a:ext cx="16561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U6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584329" y="2562969"/>
            <a:ext cx="81989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孙主管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584329" y="2724894"/>
            <a:ext cx="81989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活动运营 | 30岁 | 硕士</a:t>
            </a:r>
            <a:endParaRPr lang="en-US" sz="650" dirty="0"/>
          </a:p>
        </p:txBody>
      </p:sp>
      <p:sp>
        <p:nvSpPr>
          <p:cNvPr id="44" name="Text 42"/>
          <p:cNvSpPr/>
          <p:nvPr/>
        </p:nvSpPr>
        <p:spPr>
          <a:xfrm>
            <a:off x="5228779" y="2891582"/>
            <a:ext cx="2020824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0"/>
              </a:lnSpc>
              <a:buNone/>
            </a:pPr>
            <a:r>
              <a:rPr lang="en-US" sz="600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报名/直播/分析分散三个平台，管理碎片化</a:t>
            </a:r>
            <a:endParaRPr lang="en-US" sz="600" dirty="0"/>
          </a:p>
        </p:txBody>
      </p:sp>
      <p:sp>
        <p:nvSpPr>
          <p:cNvPr id="45" name="Text 43"/>
          <p:cNvSpPr/>
          <p:nvPr/>
        </p:nvSpPr>
        <p:spPr>
          <a:xfrm>
            <a:off x="5228779" y="3028652"/>
            <a:ext cx="202082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550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涉及1系统：科技信息交流</a:t>
            </a:r>
            <a:endParaRPr lang="en-US" sz="550" dirty="0"/>
          </a:p>
        </p:txBody>
      </p:sp>
      <p:sp>
        <p:nvSpPr>
          <p:cNvPr id="46" name="Text 44"/>
          <p:cNvSpPr/>
          <p:nvPr/>
        </p:nvSpPr>
        <p:spPr>
          <a:xfrm>
            <a:off x="381000" y="3815358"/>
            <a:ext cx="2254151" cy="1263402"/>
          </a:xfrm>
          <a:prstGeom prst="roundRect">
            <a:avLst>
              <a:gd name="adj" fmla="val 6031"/>
            </a:avLst>
          </a:prstGeom>
          <a:solidFill>
            <a:srgbClr val="132238"/>
          </a:solidFill>
          <a:ln w="9525">
            <a:solidFill>
              <a:srgbClr val="17A2B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517475" y="3926384"/>
            <a:ext cx="279350" cy="279350"/>
          </a:xfrm>
          <a:prstGeom prst="roundRect">
            <a:avLst>
              <a:gd name="adj" fmla="val 27278"/>
            </a:avLst>
          </a:prstGeom>
          <a:solidFill>
            <a:srgbClr val="17A2B8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575965" y="3994547"/>
            <a:ext cx="16561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U7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873026" y="3927872"/>
            <a:ext cx="90399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刘老师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873026" y="4089797"/>
            <a:ext cx="90399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数据管理员 | 33岁 | 硕士</a:t>
            </a:r>
            <a:endParaRPr lang="en-US" sz="650" dirty="0"/>
          </a:p>
        </p:txBody>
      </p:sp>
      <p:sp>
        <p:nvSpPr>
          <p:cNvPr id="51" name="Text 49"/>
          <p:cNvSpPr/>
          <p:nvPr/>
        </p:nvSpPr>
        <p:spPr>
          <a:xfrm>
            <a:off x="517475" y="4256484"/>
            <a:ext cx="2020824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0"/>
              </a:lnSpc>
              <a:buNone/>
            </a:pPr>
            <a:r>
              <a:rPr lang="en-US" sz="600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50家医院数据格式不一样，标准化要几个月</a:t>
            </a:r>
            <a:endParaRPr lang="en-US" sz="600" dirty="0"/>
          </a:p>
        </p:txBody>
      </p:sp>
      <p:sp>
        <p:nvSpPr>
          <p:cNvPr id="52" name="Text 50"/>
          <p:cNvSpPr/>
          <p:nvPr/>
        </p:nvSpPr>
        <p:spPr>
          <a:xfrm>
            <a:off x="517475" y="4393555"/>
            <a:ext cx="202082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550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涉及4系统：算法/指数/大数据/科学数据</a:t>
            </a:r>
            <a:endParaRPr lang="en-US" sz="550" dirty="0"/>
          </a:p>
        </p:txBody>
      </p:sp>
      <p:sp>
        <p:nvSpPr>
          <p:cNvPr id="53" name="Text 51"/>
          <p:cNvSpPr/>
          <p:nvPr/>
        </p:nvSpPr>
        <p:spPr>
          <a:xfrm>
            <a:off x="2736652" y="3815358"/>
            <a:ext cx="2254151" cy="1263402"/>
          </a:xfrm>
          <a:prstGeom prst="roundRect">
            <a:avLst>
              <a:gd name="adj" fmla="val 6031"/>
            </a:avLst>
          </a:prstGeom>
          <a:solidFill>
            <a:srgbClr val="132238"/>
          </a:solidFill>
          <a:ln w="9525">
            <a:solidFill>
              <a:srgbClr val="17A2B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2873127" y="3926384"/>
            <a:ext cx="279350" cy="279350"/>
          </a:xfrm>
          <a:prstGeom prst="roundRect">
            <a:avLst>
              <a:gd name="adj" fmla="val 27278"/>
            </a:avLst>
          </a:prstGeom>
          <a:solidFill>
            <a:srgbClr val="17A2B8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2931616" y="3994547"/>
            <a:ext cx="16561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U8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3228677" y="3927872"/>
            <a:ext cx="89929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赵同学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3228677" y="4089797"/>
            <a:ext cx="89929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博士研究生 | 26岁 | NLP</a:t>
            </a:r>
            <a:endParaRPr lang="en-US" sz="650" dirty="0"/>
          </a:p>
        </p:txBody>
      </p:sp>
      <p:sp>
        <p:nvSpPr>
          <p:cNvPr id="58" name="Text 56"/>
          <p:cNvSpPr/>
          <p:nvPr/>
        </p:nvSpPr>
        <p:spPr>
          <a:xfrm>
            <a:off x="2873127" y="4256484"/>
            <a:ext cx="2020824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0"/>
              </a:lnSpc>
              <a:buNone/>
            </a:pPr>
            <a:r>
              <a:rPr lang="en-US" sz="600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复现论文花一周配环境，最后还跑不通</a:t>
            </a:r>
            <a:endParaRPr lang="en-US" sz="600" dirty="0"/>
          </a:p>
        </p:txBody>
      </p:sp>
      <p:sp>
        <p:nvSpPr>
          <p:cNvPr id="59" name="Text 57"/>
          <p:cNvSpPr/>
          <p:nvPr/>
        </p:nvSpPr>
        <p:spPr>
          <a:xfrm>
            <a:off x="2873127" y="4393555"/>
            <a:ext cx="202082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550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涉及4系统：门户/交流/搜索/科研智能</a:t>
            </a:r>
            <a:endParaRPr lang="en-US" sz="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17A2B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92001"/>
            <a:ext cx="895350" cy="333375"/>
          </a:xfrm>
          <a:prstGeom prst="roundRect">
            <a:avLst>
              <a:gd name="adj" fmla="val 30476"/>
            </a:avLst>
          </a:prstGeom>
          <a:solidFill>
            <a:srgbClr val="132238"/>
          </a:solidFill>
          <a:ln w="9525">
            <a:solidFill>
              <a:srgbClr val="17A2B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95176" y="377726"/>
            <a:ext cx="53131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U1 张局长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555700" y="306288"/>
            <a:ext cx="352247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决策支持旅程：量子计算竞争力评估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07950" y="752326"/>
            <a:ext cx="829066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科技局领导视角 — 从领导提问到精准人才引进的全链路决策闭环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81000" y="1066651"/>
            <a:ext cx="2038350" cy="1381571"/>
          </a:xfrm>
          <a:prstGeom prst="roundRect">
            <a:avLst>
              <a:gd name="adj" fmla="val 7354"/>
            </a:avLst>
          </a:prstGeom>
          <a:solidFill>
            <a:srgbClr val="132238"/>
          </a:solidFill>
          <a:ln w="9525">
            <a:solidFill>
              <a:srgbClr val="17A2B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17475" y="1203127"/>
            <a:ext cx="279350" cy="279350"/>
          </a:xfrm>
          <a:prstGeom prst="roundRect">
            <a:avLst>
              <a:gd name="adj" fmla="val 27278"/>
            </a:avLst>
          </a:prstGeom>
          <a:solidFill>
            <a:srgbClr val="17A2B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25227" y="1276052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73026" y="1271290"/>
            <a:ext cx="4142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DA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态势感知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17475" y="1558677"/>
            <a:ext cx="180070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查看七维全景大屏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517475" y="1742777"/>
            <a:ext cx="1800707" cy="115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spcAft>
                <a:spcPts val="600"/>
              </a:spcAft>
              <a:buNone/>
            </a:pPr>
            <a:r>
              <a:rPr lang="en-US" sz="6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科技全景+技术跟踪+全球/湾区/深圳监测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517475" y="1934617"/>
            <a:ext cx="1765399" cy="377130"/>
          </a:xfrm>
          <a:prstGeom prst="roundRect">
            <a:avLst>
              <a:gd name="adj" fmla="val 16838"/>
            </a:avLst>
          </a:prstGeom>
          <a:solidFill>
            <a:srgbClr val="10B981">
              <a:alpha val="10000"/>
            </a:srgbClr>
          </a:solidFill>
          <a:ln w="9525">
            <a:solidFill>
              <a:srgbClr val="10B98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15851" y="2007543"/>
            <a:ext cx="1600021" cy="2312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buNone/>
            </a:pPr>
            <a:r>
              <a:rPr lang="en-US" sz="65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5分钟看懂全球量子计算格局 (传统需2周调研)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2495550" y="1066651"/>
            <a:ext cx="2038350" cy="1381571"/>
          </a:xfrm>
          <a:prstGeom prst="roundRect">
            <a:avLst>
              <a:gd name="adj" fmla="val 7354"/>
            </a:avLst>
          </a:prstGeom>
          <a:solidFill>
            <a:srgbClr val="132238"/>
          </a:solidFill>
          <a:ln w="9525">
            <a:solidFill>
              <a:srgbClr val="17A2B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632025" y="1203127"/>
            <a:ext cx="279350" cy="279350"/>
          </a:xfrm>
          <a:prstGeom prst="roundRect">
            <a:avLst>
              <a:gd name="adj" fmla="val 27278"/>
            </a:avLst>
          </a:prstGeom>
          <a:solidFill>
            <a:srgbClr val="17A2B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739777" y="1276052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987576" y="1271290"/>
            <a:ext cx="4142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DA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深度分析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632025" y="1558677"/>
            <a:ext cx="180070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Agent生成分析报告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2632025" y="1742777"/>
            <a:ext cx="1800707" cy="115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spcAft>
                <a:spcPts val="600"/>
              </a:spcAft>
              <a:buNone/>
            </a:pPr>
            <a:r>
              <a:rPr lang="en-US" sz="6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MCP工具20+轮调用，自动检索论文/专利/学者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2632025" y="1934617"/>
            <a:ext cx="1765399" cy="377130"/>
          </a:xfrm>
          <a:prstGeom prst="roundRect">
            <a:avLst>
              <a:gd name="adj" fmla="val 16838"/>
            </a:avLst>
          </a:prstGeom>
          <a:solidFill>
            <a:srgbClr val="10B981">
              <a:alpha val="10000"/>
            </a:srgbClr>
          </a:solidFill>
          <a:ln w="9525">
            <a:solidFill>
              <a:srgbClr val="10B98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730401" y="2007543"/>
            <a:ext cx="1600021" cy="2312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buNone/>
            </a:pPr>
            <a:r>
              <a:rPr lang="en-US" sz="65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30分钟获得12页深度报告，含数据溯源链接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4610100" y="1066651"/>
            <a:ext cx="2038350" cy="1381571"/>
          </a:xfrm>
          <a:prstGeom prst="roundRect">
            <a:avLst>
              <a:gd name="adj" fmla="val 7354"/>
            </a:avLst>
          </a:prstGeom>
          <a:solidFill>
            <a:srgbClr val="132238"/>
          </a:solidFill>
          <a:ln w="9525">
            <a:solidFill>
              <a:srgbClr val="17A2B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746575" y="1203127"/>
            <a:ext cx="279350" cy="279350"/>
          </a:xfrm>
          <a:prstGeom prst="roundRect">
            <a:avLst>
              <a:gd name="adj" fmla="val 27278"/>
            </a:avLst>
          </a:prstGeom>
          <a:solidFill>
            <a:srgbClr val="17A2B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854327" y="1276052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102126" y="1271290"/>
            <a:ext cx="4142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DA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人才推荐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746575" y="1558677"/>
            <a:ext cx="180070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精准推荐引进人才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746575" y="1742777"/>
            <a:ext cx="1800707" cy="115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spcAft>
                <a:spcPts val="600"/>
              </a:spcAft>
              <a:buNone/>
            </a:pPr>
            <a:r>
              <a:rPr lang="en-US" sz="6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全球排位+研究匹配度+合作网络+迁徙倾向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4746575" y="2050256"/>
            <a:ext cx="1765399" cy="261491"/>
          </a:xfrm>
          <a:prstGeom prst="roundRect">
            <a:avLst>
              <a:gd name="adj" fmla="val 24284"/>
            </a:avLst>
          </a:prstGeom>
          <a:solidFill>
            <a:srgbClr val="10B981">
              <a:alpha val="10000"/>
            </a:srgbClr>
          </a:solidFill>
          <a:ln w="9525">
            <a:solidFill>
              <a:srgbClr val="10B98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844951" y="2123182"/>
            <a:ext cx="1600021" cy="115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buNone/>
            </a:pPr>
            <a:r>
              <a:rPr lang="en-US" sz="65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推荐"最适合深圳的人才"而非"最厉害的人"</a:t>
            </a:r>
            <a:endParaRPr lang="en-US" sz="650" dirty="0"/>
          </a:p>
        </p:txBody>
      </p:sp>
      <p:sp>
        <p:nvSpPr>
          <p:cNvPr id="31" name="Text 29"/>
          <p:cNvSpPr/>
          <p:nvPr/>
        </p:nvSpPr>
        <p:spPr>
          <a:xfrm>
            <a:off x="6724650" y="1066651"/>
            <a:ext cx="2038350" cy="1381571"/>
          </a:xfrm>
          <a:prstGeom prst="roundRect">
            <a:avLst>
              <a:gd name="adj" fmla="val 7354"/>
            </a:avLst>
          </a:prstGeom>
          <a:solidFill>
            <a:srgbClr val="132238"/>
          </a:solidFill>
          <a:ln w="9525">
            <a:solidFill>
              <a:srgbClr val="17A2B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6861125" y="1203127"/>
            <a:ext cx="279350" cy="279350"/>
          </a:xfrm>
          <a:prstGeom prst="roundRect">
            <a:avLst>
              <a:gd name="adj" fmla="val 27278"/>
            </a:avLst>
          </a:prstGeom>
          <a:solidFill>
            <a:srgbClr val="17A2B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968877" y="1276052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216676" y="1271290"/>
            <a:ext cx="4142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DA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效果追踪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861125" y="1558677"/>
            <a:ext cx="180070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量化引进人才产出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6861125" y="1742777"/>
            <a:ext cx="1800707" cy="115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spcAft>
                <a:spcPts val="600"/>
              </a:spcAft>
              <a:buNone/>
            </a:pPr>
            <a:r>
              <a:rPr lang="en-US" sz="6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自动追踪论文/专利/合作产出，与预期对比</a:t>
            </a:r>
            <a:endParaRPr lang="en-US" sz="650" dirty="0"/>
          </a:p>
        </p:txBody>
      </p:sp>
      <p:sp>
        <p:nvSpPr>
          <p:cNvPr id="37" name="Text 35"/>
          <p:cNvSpPr/>
          <p:nvPr/>
        </p:nvSpPr>
        <p:spPr>
          <a:xfrm>
            <a:off x="6861125" y="2050256"/>
            <a:ext cx="1765399" cy="261491"/>
          </a:xfrm>
          <a:prstGeom prst="roundRect">
            <a:avLst>
              <a:gd name="adj" fmla="val 24284"/>
            </a:avLst>
          </a:prstGeom>
          <a:solidFill>
            <a:srgbClr val="10B981">
              <a:alpha val="10000"/>
            </a:srgbClr>
          </a:solidFill>
          <a:ln w="9525">
            <a:solidFill>
              <a:srgbClr val="10B98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6959501" y="2123182"/>
            <a:ext cx="1600021" cy="115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buNone/>
            </a:pPr>
            <a:r>
              <a:rPr lang="en-US" sz="65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投入产出可量化——花对了钱一目了然</a:t>
            </a:r>
            <a:endParaRPr lang="en-US" sz="650" dirty="0"/>
          </a:p>
        </p:txBody>
      </p:sp>
      <p:sp>
        <p:nvSpPr>
          <p:cNvPr id="39" name="Text 37"/>
          <p:cNvSpPr/>
          <p:nvPr/>
        </p:nvSpPr>
        <p:spPr>
          <a:xfrm>
            <a:off x="507950" y="2600623"/>
            <a:ext cx="401584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传统方式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507950" y="2775198"/>
            <a:ext cx="3937099" cy="76200"/>
          </a:xfrm>
          <a:prstGeom prst="roundRect">
            <a:avLst>
              <a:gd name="adj" fmla="val 50000"/>
            </a:avLst>
          </a:prstGeom>
          <a:solidFill>
            <a:srgbClr val="E74C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507950" y="2889498"/>
            <a:ext cx="40158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调研2周 + 报告2周 + 找人才1月 = 6周以上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698950" y="2600623"/>
            <a:ext cx="401584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本系统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4698950" y="2775198"/>
            <a:ext cx="314920" cy="762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4698950" y="2889498"/>
            <a:ext cx="40158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态势5分钟 + 报告30分钟 + 推荐即时 = 不到1小时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8B5C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92001"/>
            <a:ext cx="1009650" cy="333375"/>
          </a:xfrm>
          <a:prstGeom prst="roundRect">
            <a:avLst>
              <a:gd name="adj" fmla="val 30476"/>
            </a:avLst>
          </a:prstGeom>
          <a:solidFill>
            <a:srgbClr val="132238"/>
          </a:solidFill>
          <a:ln w="9525">
            <a:solidFill>
              <a:srgbClr val="8B5CF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95176" y="377726"/>
            <a:ext cx="64790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U2 李研究员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70000" y="306288"/>
            <a:ext cx="330235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情报分析旅程：固态电池月度追踪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07950" y="752326"/>
            <a:ext cx="829066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情报分析师视角 — 从情报值班到自动报告，效率提升20倍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81000" y="1066651"/>
            <a:ext cx="2038350" cy="1497211"/>
          </a:xfrm>
          <a:prstGeom prst="roundRect">
            <a:avLst>
              <a:gd name="adj" fmla="val 6786"/>
            </a:avLst>
          </a:prstGeom>
          <a:solidFill>
            <a:srgbClr val="132238"/>
          </a:solidFill>
          <a:ln w="9525">
            <a:solidFill>
              <a:srgbClr val="8B5CF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17475" y="1203127"/>
            <a:ext cx="279350" cy="279350"/>
          </a:xfrm>
          <a:prstGeom prst="roundRect">
            <a:avLst>
              <a:gd name="adj" fmla="val 27278"/>
            </a:avLst>
          </a:prstGeom>
          <a:solidFill>
            <a:srgbClr val="8B5C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25227" y="1276052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73026" y="1271290"/>
            <a:ext cx="31074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AI采集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17475" y="1558677"/>
            <a:ext cx="180070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情报Agent 7x24监控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517475" y="1742777"/>
            <a:ext cx="1800707" cy="2312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spcAft>
                <a:spcPts val="600"/>
              </a:spcAft>
              <a:buNone/>
            </a:pPr>
            <a:r>
              <a:rPr lang="en-US" sz="6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多源资讯智能聚合：30+来源自动合并为独立事件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517475" y="2165896"/>
            <a:ext cx="1765399" cy="261491"/>
          </a:xfrm>
          <a:prstGeom prst="roundRect">
            <a:avLst>
              <a:gd name="adj" fmla="val 24284"/>
            </a:avLst>
          </a:prstGeom>
          <a:solidFill>
            <a:srgbClr val="10B981">
              <a:alpha val="10000"/>
            </a:srgbClr>
          </a:solidFill>
          <a:ln w="9525">
            <a:solidFill>
              <a:srgbClr val="10B98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15851" y="2238821"/>
            <a:ext cx="1600021" cy="115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buNone/>
            </a:pPr>
            <a:r>
              <a:rPr lang="en-US" sz="65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不需要手动搜——Agent替你每天"值夜班"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2495550" y="1066651"/>
            <a:ext cx="2038350" cy="1497211"/>
          </a:xfrm>
          <a:prstGeom prst="roundRect">
            <a:avLst>
              <a:gd name="adj" fmla="val 6786"/>
            </a:avLst>
          </a:prstGeom>
          <a:solidFill>
            <a:srgbClr val="132238"/>
          </a:solidFill>
          <a:ln w="9525">
            <a:solidFill>
              <a:srgbClr val="8B5CF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632025" y="1203127"/>
            <a:ext cx="279350" cy="279350"/>
          </a:xfrm>
          <a:prstGeom prst="roundRect">
            <a:avLst>
              <a:gd name="adj" fmla="val 27278"/>
            </a:avLst>
          </a:prstGeom>
          <a:solidFill>
            <a:srgbClr val="8B5C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739777" y="1276052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987576" y="1271290"/>
            <a:ext cx="4142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事件聚合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632025" y="1558677"/>
            <a:ext cx="180070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200条新闻变18个事件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2632025" y="1742777"/>
            <a:ext cx="1800707" cy="115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spcAft>
                <a:spcPts val="600"/>
              </a:spcAft>
              <a:buNone/>
            </a:pPr>
            <a:r>
              <a:rPr lang="en-US" sz="6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去重/聚类/摘要/影响评级自动完成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2632025" y="2165896"/>
            <a:ext cx="1765399" cy="261491"/>
          </a:xfrm>
          <a:prstGeom prst="roundRect">
            <a:avLst>
              <a:gd name="adj" fmla="val 24284"/>
            </a:avLst>
          </a:prstGeom>
          <a:solidFill>
            <a:srgbClr val="10B981">
              <a:alpha val="10000"/>
            </a:srgbClr>
          </a:solidFill>
          <a:ln w="9525">
            <a:solidFill>
              <a:srgbClr val="10B98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730401" y="2238821"/>
            <a:ext cx="1600021" cy="115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buNone/>
            </a:pPr>
            <a:r>
              <a:rPr lang="en-US" sz="65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节省90%阅读时间，只看核心事件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4610100" y="1066651"/>
            <a:ext cx="2038350" cy="1497211"/>
          </a:xfrm>
          <a:prstGeom prst="roundRect">
            <a:avLst>
              <a:gd name="adj" fmla="val 6786"/>
            </a:avLst>
          </a:prstGeom>
          <a:solidFill>
            <a:srgbClr val="132238"/>
          </a:solidFill>
          <a:ln w="9525">
            <a:solidFill>
              <a:srgbClr val="8B5CF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746575" y="1203127"/>
            <a:ext cx="279350" cy="279350"/>
          </a:xfrm>
          <a:prstGeom prst="roundRect">
            <a:avLst>
              <a:gd name="adj" fmla="val 27278"/>
            </a:avLst>
          </a:prstGeom>
          <a:solidFill>
            <a:srgbClr val="8B5C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854327" y="1276052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102126" y="1271290"/>
            <a:ext cx="4142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关联发现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746575" y="1558677"/>
            <a:ext cx="180070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隐含关联分析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746575" y="1742777"/>
            <a:ext cx="1800707" cy="2312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spcAft>
                <a:spcPts val="600"/>
              </a:spcAft>
              <a:buNone/>
            </a:pPr>
            <a:r>
              <a:rPr lang="en-US" sz="6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发现异常合作激增、学者行为模式变化等隐藏信号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4746575" y="2050256"/>
            <a:ext cx="1765399" cy="377130"/>
          </a:xfrm>
          <a:prstGeom prst="roundRect">
            <a:avLst>
              <a:gd name="adj" fmla="val 16838"/>
            </a:avLst>
          </a:prstGeom>
          <a:solidFill>
            <a:srgbClr val="10B981">
              <a:alpha val="10000"/>
            </a:srgbClr>
          </a:solidFill>
          <a:ln w="9525">
            <a:solidFill>
              <a:srgbClr val="10B98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844951" y="2123182"/>
            <a:ext cx="1600021" cy="2312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buNone/>
            </a:pPr>
            <a:r>
              <a:rPr lang="en-US" sz="65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发现肉眼看不见的信号——传统分析无法做到</a:t>
            </a:r>
            <a:endParaRPr lang="en-US" sz="650" dirty="0"/>
          </a:p>
        </p:txBody>
      </p:sp>
      <p:sp>
        <p:nvSpPr>
          <p:cNvPr id="31" name="Text 29"/>
          <p:cNvSpPr/>
          <p:nvPr/>
        </p:nvSpPr>
        <p:spPr>
          <a:xfrm>
            <a:off x="6724650" y="1066651"/>
            <a:ext cx="2038350" cy="1497211"/>
          </a:xfrm>
          <a:prstGeom prst="roundRect">
            <a:avLst>
              <a:gd name="adj" fmla="val 6786"/>
            </a:avLst>
          </a:prstGeom>
          <a:solidFill>
            <a:srgbClr val="132238"/>
          </a:solidFill>
          <a:ln w="9525">
            <a:solidFill>
              <a:srgbClr val="8B5CF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6861125" y="1203127"/>
            <a:ext cx="279350" cy="279350"/>
          </a:xfrm>
          <a:prstGeom prst="roundRect">
            <a:avLst>
              <a:gd name="adj" fmla="val 27278"/>
            </a:avLst>
          </a:prstGeom>
          <a:solidFill>
            <a:srgbClr val="8B5C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968877" y="1276052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216676" y="1271290"/>
            <a:ext cx="4142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报告生成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861125" y="1558677"/>
            <a:ext cx="180070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一键生成报告初稿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6861125" y="1742777"/>
            <a:ext cx="1800707" cy="2312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spcAft>
                <a:spcPts val="600"/>
              </a:spcAft>
              <a:buNone/>
            </a:pPr>
            <a:r>
              <a:rPr lang="en-US" sz="6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Agent基于数据+关联+溯源，自动生成含图表报告</a:t>
            </a:r>
            <a:endParaRPr lang="en-US" sz="650" dirty="0"/>
          </a:p>
        </p:txBody>
      </p:sp>
      <p:sp>
        <p:nvSpPr>
          <p:cNvPr id="37" name="Text 35"/>
          <p:cNvSpPr/>
          <p:nvPr/>
        </p:nvSpPr>
        <p:spPr>
          <a:xfrm>
            <a:off x="6861125" y="2050256"/>
            <a:ext cx="1765399" cy="377130"/>
          </a:xfrm>
          <a:prstGeom prst="roundRect">
            <a:avLst>
              <a:gd name="adj" fmla="val 16838"/>
            </a:avLst>
          </a:prstGeom>
          <a:solidFill>
            <a:srgbClr val="10B981">
              <a:alpha val="10000"/>
            </a:srgbClr>
          </a:solidFill>
          <a:ln w="9525">
            <a:solidFill>
              <a:srgbClr val="10B98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6959501" y="2123182"/>
            <a:ext cx="1600021" cy="2312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buNone/>
            </a:pPr>
            <a:r>
              <a:rPr lang="en-US" sz="65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初稿10分钟——分析师从"写报告"变"审报告"</a:t>
            </a:r>
            <a:endParaRPr lang="en-US" sz="650" dirty="0"/>
          </a:p>
        </p:txBody>
      </p:sp>
      <p:sp>
        <p:nvSpPr>
          <p:cNvPr id="39" name="Text 37"/>
          <p:cNvSpPr/>
          <p:nvPr/>
        </p:nvSpPr>
        <p:spPr>
          <a:xfrm>
            <a:off x="507950" y="2716262"/>
            <a:ext cx="401584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传统方式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507950" y="2890838"/>
            <a:ext cx="3937099" cy="76200"/>
          </a:xfrm>
          <a:prstGeom prst="roundRect">
            <a:avLst>
              <a:gd name="adj" fmla="val 50000"/>
            </a:avLst>
          </a:prstGeom>
          <a:solidFill>
            <a:srgbClr val="E74C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507950" y="3005138"/>
            <a:ext cx="40158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搜索3天 + 阅读2天 + 分析3天 + 写报告4天 = 12个工作日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698950" y="2716262"/>
            <a:ext cx="401584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本系统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4698950" y="2890838"/>
            <a:ext cx="196751" cy="762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4698950" y="3005138"/>
            <a:ext cx="40158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查看简报30分钟 + 关联10分钟 + 审校2小时 = 半天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92001"/>
            <a:ext cx="895350" cy="333375"/>
          </a:xfrm>
          <a:prstGeom prst="roundRect">
            <a:avLst>
              <a:gd name="adj" fmla="val 30476"/>
            </a:avLst>
          </a:prstGeom>
          <a:solidFill>
            <a:srgbClr val="132238"/>
          </a:solidFill>
          <a:ln w="9525">
            <a:solidFill>
              <a:srgbClr val="10B98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95176" y="377726"/>
            <a:ext cx="53131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U4 王教授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555700" y="306288"/>
            <a:ext cx="264185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科研旅程：寻找全球合作者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07950" y="752326"/>
            <a:ext cx="829066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高校科研人员视角 — 从"人找文献"到"文献找人+AI帮你读"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81000" y="1066651"/>
            <a:ext cx="1615380" cy="1497211"/>
          </a:xfrm>
          <a:prstGeom prst="roundRect">
            <a:avLst>
              <a:gd name="adj" fmla="val 6786"/>
            </a:avLst>
          </a:prstGeom>
          <a:solidFill>
            <a:srgbClr val="132238"/>
          </a:solidFill>
          <a:ln w="9525">
            <a:solidFill>
              <a:srgbClr val="10B98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17475" y="1203127"/>
            <a:ext cx="279350" cy="279350"/>
          </a:xfrm>
          <a:prstGeom prst="roundRect">
            <a:avLst>
              <a:gd name="adj" fmla="val 27278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25227" y="1276052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73026" y="1271290"/>
            <a:ext cx="4142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语义检索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17475" y="1558677"/>
            <a:ext cx="136927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1.5亿文献语义搜索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517475" y="1742777"/>
            <a:ext cx="1369278" cy="2312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spcAft>
                <a:spcPts val="600"/>
              </a:spcAft>
              <a:buNone/>
            </a:pPr>
            <a:r>
              <a:rPr lang="en-US" sz="6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理解语义而非关键词，40+语言跨语种召回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517475" y="2050256"/>
            <a:ext cx="1342430" cy="377130"/>
          </a:xfrm>
          <a:prstGeom prst="roundRect">
            <a:avLst>
              <a:gd name="adj" fmla="val 16838"/>
            </a:avLst>
          </a:prstGeom>
          <a:solidFill>
            <a:srgbClr val="06B6D4">
              <a:alpha val="10000"/>
            </a:srgbClr>
          </a:solidFill>
          <a:ln w="9525">
            <a:solidFill>
              <a:srgbClr val="06B6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15851" y="2123182"/>
            <a:ext cx="1168592" cy="2312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buNone/>
            </a:pPr>
            <a:r>
              <a:rPr lang="en-US" sz="65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不漏掉任何一篇相关文献，跨语言零障碍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2072580" y="1066651"/>
            <a:ext cx="1615529" cy="1497211"/>
          </a:xfrm>
          <a:prstGeom prst="roundRect">
            <a:avLst>
              <a:gd name="adj" fmla="val 6786"/>
            </a:avLst>
          </a:prstGeom>
          <a:solidFill>
            <a:srgbClr val="132238"/>
          </a:solidFill>
          <a:ln w="9525">
            <a:solidFill>
              <a:srgbClr val="10B98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209056" y="1203127"/>
            <a:ext cx="279350" cy="279350"/>
          </a:xfrm>
          <a:prstGeom prst="roundRect">
            <a:avLst>
              <a:gd name="adj" fmla="val 27278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316807" y="1276052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564606" y="1271290"/>
            <a:ext cx="4142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学者发现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209056" y="1558677"/>
            <a:ext cx="13694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多维学者画像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2209056" y="1742777"/>
            <a:ext cx="1369430" cy="2312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spcAft>
                <a:spcPts val="600"/>
              </a:spcAft>
              <a:buNone/>
            </a:pPr>
            <a:r>
              <a:rPr lang="en-US" sz="6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h指数+论文趋势+兴趣演化+合作网络+地理迁徙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2209056" y="2050256"/>
            <a:ext cx="1342579" cy="377130"/>
          </a:xfrm>
          <a:prstGeom prst="roundRect">
            <a:avLst>
              <a:gd name="adj" fmla="val 16838"/>
            </a:avLst>
          </a:prstGeom>
          <a:solidFill>
            <a:srgbClr val="06B6D4">
              <a:alpha val="10000"/>
            </a:srgbClr>
          </a:solidFill>
          <a:ln w="9525">
            <a:solidFill>
              <a:srgbClr val="06B6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307431" y="2123182"/>
            <a:ext cx="1168744" cy="2312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buNone/>
            </a:pPr>
            <a:r>
              <a:rPr lang="en-US" sz="65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发现学者兴趣正在漂移——及时抓住合作窗口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3764310" y="1066651"/>
            <a:ext cx="1615380" cy="1497211"/>
          </a:xfrm>
          <a:prstGeom prst="roundRect">
            <a:avLst>
              <a:gd name="adj" fmla="val 6786"/>
            </a:avLst>
          </a:prstGeom>
          <a:solidFill>
            <a:srgbClr val="132238"/>
          </a:solidFill>
          <a:ln w="9525">
            <a:solidFill>
              <a:srgbClr val="10B98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900785" y="1203127"/>
            <a:ext cx="279350" cy="279350"/>
          </a:xfrm>
          <a:prstGeom prst="roundRect">
            <a:avLst>
              <a:gd name="adj" fmla="val 27278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008537" y="1276052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256336" y="1271290"/>
            <a:ext cx="4142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全息阅读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900785" y="1558677"/>
            <a:ext cx="136927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AI论文全息提取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3900785" y="1742777"/>
            <a:ext cx="1369278" cy="2312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spcAft>
                <a:spcPts val="600"/>
              </a:spcAft>
              <a:buNone/>
            </a:pPr>
            <a:r>
              <a:rPr lang="en-US" sz="6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自动提取摘要/图表/方法/创新点/局限性/未来方向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3900785" y="2050256"/>
            <a:ext cx="1342430" cy="377130"/>
          </a:xfrm>
          <a:prstGeom prst="roundRect">
            <a:avLst>
              <a:gd name="adj" fmla="val 16838"/>
            </a:avLst>
          </a:prstGeom>
          <a:solidFill>
            <a:srgbClr val="06B6D4">
              <a:alpha val="10000"/>
            </a:srgbClr>
          </a:solidFill>
          <a:ln w="9525">
            <a:solidFill>
              <a:srgbClr val="06B6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3999161" y="2123182"/>
            <a:ext cx="1168592" cy="2312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buNone/>
            </a:pPr>
            <a:r>
              <a:rPr lang="en-US" sz="65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3篇论文对比阅读从3小时缩短到30分钟</a:t>
            </a:r>
            <a:endParaRPr lang="en-US" sz="650" dirty="0"/>
          </a:p>
        </p:txBody>
      </p:sp>
      <p:sp>
        <p:nvSpPr>
          <p:cNvPr id="31" name="Text 29"/>
          <p:cNvSpPr/>
          <p:nvPr/>
        </p:nvSpPr>
        <p:spPr>
          <a:xfrm>
            <a:off x="5455890" y="1066651"/>
            <a:ext cx="1615529" cy="1497211"/>
          </a:xfrm>
          <a:prstGeom prst="roundRect">
            <a:avLst>
              <a:gd name="adj" fmla="val 6786"/>
            </a:avLst>
          </a:prstGeom>
          <a:solidFill>
            <a:srgbClr val="132238"/>
          </a:solidFill>
          <a:ln w="9525">
            <a:solidFill>
              <a:srgbClr val="10B98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592366" y="1203127"/>
            <a:ext cx="279350" cy="279350"/>
          </a:xfrm>
          <a:prstGeom prst="roundRect">
            <a:avLst>
              <a:gd name="adj" fmla="val 27278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5700117" y="1276052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947916" y="1271290"/>
            <a:ext cx="4142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主动推送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592366" y="1558677"/>
            <a:ext cx="13694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每日新论文推荐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5592366" y="1742777"/>
            <a:ext cx="1369430" cy="2312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spcAft>
                <a:spcPts val="600"/>
              </a:spcAft>
              <a:buNone/>
            </a:pPr>
            <a:r>
              <a:rPr lang="en-US" sz="6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系统根据订阅标签，新论文发表当天推送</a:t>
            </a:r>
            <a:endParaRPr lang="en-US" sz="650" dirty="0"/>
          </a:p>
        </p:txBody>
      </p:sp>
      <p:sp>
        <p:nvSpPr>
          <p:cNvPr id="37" name="Text 35"/>
          <p:cNvSpPr/>
          <p:nvPr/>
        </p:nvSpPr>
        <p:spPr>
          <a:xfrm>
            <a:off x="5592366" y="2050256"/>
            <a:ext cx="1342579" cy="377130"/>
          </a:xfrm>
          <a:prstGeom prst="roundRect">
            <a:avLst>
              <a:gd name="adj" fmla="val 16838"/>
            </a:avLst>
          </a:prstGeom>
          <a:solidFill>
            <a:srgbClr val="06B6D4">
              <a:alpha val="10000"/>
            </a:srgbClr>
          </a:solidFill>
          <a:ln w="9525">
            <a:solidFill>
              <a:srgbClr val="06B6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5690741" y="2123182"/>
            <a:ext cx="1168744" cy="2312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buNone/>
            </a:pPr>
            <a:r>
              <a:rPr lang="en-US" sz="65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论文找人——再也不需要每天主动搜索</a:t>
            </a:r>
            <a:endParaRPr lang="en-US" sz="650" dirty="0"/>
          </a:p>
        </p:txBody>
      </p:sp>
      <p:sp>
        <p:nvSpPr>
          <p:cNvPr id="39" name="Text 37"/>
          <p:cNvSpPr/>
          <p:nvPr/>
        </p:nvSpPr>
        <p:spPr>
          <a:xfrm>
            <a:off x="7147620" y="1066651"/>
            <a:ext cx="1615380" cy="1497211"/>
          </a:xfrm>
          <a:prstGeom prst="roundRect">
            <a:avLst>
              <a:gd name="adj" fmla="val 6786"/>
            </a:avLst>
          </a:prstGeom>
          <a:solidFill>
            <a:srgbClr val="132238"/>
          </a:solidFill>
          <a:ln w="9525">
            <a:solidFill>
              <a:srgbClr val="10B98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7284095" y="1203127"/>
            <a:ext cx="279350" cy="279350"/>
          </a:xfrm>
          <a:prstGeom prst="roundRect">
            <a:avLst>
              <a:gd name="adj" fmla="val 27278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7391846" y="1276052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639645" y="1271290"/>
            <a:ext cx="4142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社区协作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7284095" y="1558677"/>
            <a:ext cx="136927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数据社区分享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7284095" y="1742777"/>
            <a:ext cx="1369278" cy="2312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spcAft>
                <a:spcPts val="600"/>
              </a:spcAft>
              <a:buNone/>
            </a:pPr>
            <a:r>
              <a:rPr lang="en-US" sz="6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社区互助+评论+成果分享+AI安全审核</a:t>
            </a:r>
            <a:endParaRPr lang="en-US" sz="650" dirty="0"/>
          </a:p>
        </p:txBody>
      </p:sp>
      <p:sp>
        <p:nvSpPr>
          <p:cNvPr id="45" name="Text 43"/>
          <p:cNvSpPr/>
          <p:nvPr/>
        </p:nvSpPr>
        <p:spPr>
          <a:xfrm>
            <a:off x="7284095" y="2165896"/>
            <a:ext cx="1342430" cy="261491"/>
          </a:xfrm>
          <a:prstGeom prst="roundRect">
            <a:avLst>
              <a:gd name="adj" fmla="val 24284"/>
            </a:avLst>
          </a:prstGeom>
          <a:solidFill>
            <a:srgbClr val="06B6D4">
              <a:alpha val="10000"/>
            </a:srgbClr>
          </a:solidFill>
          <a:ln w="9525">
            <a:solidFill>
              <a:srgbClr val="06B6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7382470" y="2238821"/>
            <a:ext cx="1168592" cy="115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buNone/>
            </a:pPr>
            <a:r>
              <a:rPr lang="en-US" sz="65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问题发出去，答案找上来</a:t>
            </a:r>
            <a:endParaRPr lang="en-US" sz="650" dirty="0"/>
          </a:p>
        </p:txBody>
      </p:sp>
      <p:sp>
        <p:nvSpPr>
          <p:cNvPr id="47" name="Text 45"/>
          <p:cNvSpPr/>
          <p:nvPr/>
        </p:nvSpPr>
        <p:spPr>
          <a:xfrm>
            <a:off x="507950" y="2716262"/>
            <a:ext cx="401584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传统方式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507950" y="2890838"/>
            <a:ext cx="3937099" cy="76200"/>
          </a:xfrm>
          <a:prstGeom prst="roundRect">
            <a:avLst>
              <a:gd name="adj" fmla="val 50000"/>
            </a:avLst>
          </a:prstGeom>
          <a:solidFill>
            <a:srgbClr val="E74C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507950" y="3005138"/>
            <a:ext cx="40158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每天3小时搜索+阅读文献，合作者靠开会偶遇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4698950" y="2716262"/>
            <a:ext cx="401584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本系统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4698950" y="2890838"/>
            <a:ext cx="669280" cy="762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4698950" y="3005138"/>
            <a:ext cx="40158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AI推送+全息阅读30分钟，合作者精准推荐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92001"/>
            <a:ext cx="895350" cy="333375"/>
          </a:xfrm>
          <a:prstGeom prst="roundRect">
            <a:avLst>
              <a:gd name="adj" fmla="val 30476"/>
            </a:avLst>
          </a:prstGeom>
          <a:solidFill>
            <a:srgbClr val="132238"/>
          </a:solidFill>
          <a:ln w="9525">
            <a:solidFill>
              <a:srgbClr val="F59E0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95176" y="377726"/>
            <a:ext cx="53131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U5 陈博士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555700" y="306288"/>
            <a:ext cx="352247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产业分析旅程：合成生物学产业全景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07950" y="752326"/>
            <a:ext cx="829066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产业研究员视角 — 六维穿透分析，从三周缩至两天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81000" y="1066651"/>
            <a:ext cx="1615380" cy="1514921"/>
          </a:xfrm>
          <a:prstGeom prst="roundRect">
            <a:avLst>
              <a:gd name="adj" fmla="val 6707"/>
            </a:avLst>
          </a:prstGeom>
          <a:solidFill>
            <a:srgbClr val="132238"/>
          </a:solidFill>
          <a:ln w="9525">
            <a:solidFill>
              <a:srgbClr val="F59E0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17475" y="1203127"/>
            <a:ext cx="279350" cy="279350"/>
          </a:xfrm>
          <a:prstGeom prst="roundRect">
            <a:avLst>
              <a:gd name="adj" fmla="val 27278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25227" y="1276052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73026" y="1271290"/>
            <a:ext cx="4142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专题立项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17475" y="1558677"/>
            <a:ext cx="136927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创建专题项目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517475" y="1742777"/>
            <a:ext cx="1369278" cy="115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spcAft>
                <a:spcPts val="600"/>
              </a:spcAft>
              <a:buNone/>
            </a:pPr>
            <a:r>
              <a:rPr lang="en-US" sz="6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项目驾驶舱+自动推荐分析框架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517475" y="2067967"/>
            <a:ext cx="1342430" cy="377130"/>
          </a:xfrm>
          <a:prstGeom prst="roundRect">
            <a:avLst>
              <a:gd name="adj" fmla="val 16838"/>
            </a:avLst>
          </a:prstGeom>
          <a:solidFill>
            <a:srgbClr val="10B981">
              <a:alpha val="10000"/>
            </a:srgbClr>
          </a:solidFill>
          <a:ln w="9525">
            <a:solidFill>
              <a:srgbClr val="10B98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15851" y="2140893"/>
            <a:ext cx="1168592" cy="2312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buNone/>
            </a:pPr>
            <a:r>
              <a:rPr lang="en-US" sz="65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一键创建专题，系统自动推荐最优分析维度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2072580" y="1066651"/>
            <a:ext cx="1615529" cy="1514921"/>
          </a:xfrm>
          <a:prstGeom prst="roundRect">
            <a:avLst>
              <a:gd name="adj" fmla="val 6707"/>
            </a:avLst>
          </a:prstGeom>
          <a:solidFill>
            <a:srgbClr val="132238"/>
          </a:solidFill>
          <a:ln w="9525">
            <a:solidFill>
              <a:srgbClr val="F59E0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209056" y="1203127"/>
            <a:ext cx="279350" cy="279350"/>
          </a:xfrm>
          <a:prstGeom prst="roundRect">
            <a:avLst>
              <a:gd name="adj" fmla="val 27278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316807" y="1276052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564606" y="1271290"/>
            <a:ext cx="4142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四库联查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209056" y="1558677"/>
            <a:ext cx="13694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论文x专利x企业x政策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2209056" y="1742777"/>
            <a:ext cx="1369430" cy="115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spcAft>
                <a:spcPts val="600"/>
              </a:spcAft>
              <a:buNone/>
            </a:pPr>
            <a:r>
              <a:rPr lang="en-US" sz="6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跨数据库自动汇聚全要素数据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2209056" y="2067967"/>
            <a:ext cx="1342579" cy="377130"/>
          </a:xfrm>
          <a:prstGeom prst="roundRect">
            <a:avLst>
              <a:gd name="adj" fmla="val 16838"/>
            </a:avLst>
          </a:prstGeom>
          <a:solidFill>
            <a:srgbClr val="10B981">
              <a:alpha val="10000"/>
            </a:srgbClr>
          </a:solidFill>
          <a:ln w="9525">
            <a:solidFill>
              <a:srgbClr val="10B98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307431" y="2140893"/>
            <a:ext cx="1168744" cy="2312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buNone/>
            </a:pPr>
            <a:r>
              <a:rPr lang="en-US" sz="65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传统需登3个平台分别搜索，本系统一次搞定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3764310" y="1066651"/>
            <a:ext cx="1615380" cy="1514921"/>
          </a:xfrm>
          <a:prstGeom prst="roundRect">
            <a:avLst>
              <a:gd name="adj" fmla="val 6707"/>
            </a:avLst>
          </a:prstGeom>
          <a:solidFill>
            <a:srgbClr val="132238"/>
          </a:solidFill>
          <a:ln w="9525">
            <a:solidFill>
              <a:srgbClr val="F59E0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900785" y="1203127"/>
            <a:ext cx="279350" cy="279350"/>
          </a:xfrm>
          <a:prstGeom prst="roundRect">
            <a:avLst>
              <a:gd name="adj" fmla="val 27278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008537" y="1276052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256336" y="1271290"/>
            <a:ext cx="4142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六维分析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900785" y="1558677"/>
            <a:ext cx="136927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技术x产业x企业x机构x人才x政策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3900785" y="1876127"/>
            <a:ext cx="1369278" cy="115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spcAft>
                <a:spcPts val="600"/>
              </a:spcAft>
              <a:buNone/>
            </a:pPr>
            <a:r>
              <a:rPr lang="en-US" sz="6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六个维度同时穿透分析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3900785" y="2067967"/>
            <a:ext cx="1342430" cy="377130"/>
          </a:xfrm>
          <a:prstGeom prst="roundRect">
            <a:avLst>
              <a:gd name="adj" fmla="val 16838"/>
            </a:avLst>
          </a:prstGeom>
          <a:solidFill>
            <a:srgbClr val="10B981">
              <a:alpha val="10000"/>
            </a:srgbClr>
          </a:solidFill>
          <a:ln w="9525">
            <a:solidFill>
              <a:srgbClr val="10B98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3999161" y="2140893"/>
            <a:ext cx="1168592" cy="2312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buNone/>
            </a:pPr>
            <a:r>
              <a:rPr lang="en-US" sz="65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发现跨领域隐含关联——"高校技术被企业大量引用"</a:t>
            </a:r>
            <a:endParaRPr lang="en-US" sz="650" dirty="0"/>
          </a:p>
        </p:txBody>
      </p:sp>
      <p:sp>
        <p:nvSpPr>
          <p:cNvPr id="31" name="Text 29"/>
          <p:cNvSpPr/>
          <p:nvPr/>
        </p:nvSpPr>
        <p:spPr>
          <a:xfrm>
            <a:off x="5455890" y="1066651"/>
            <a:ext cx="1615529" cy="1514921"/>
          </a:xfrm>
          <a:prstGeom prst="roundRect">
            <a:avLst>
              <a:gd name="adj" fmla="val 6707"/>
            </a:avLst>
          </a:prstGeom>
          <a:solidFill>
            <a:srgbClr val="132238"/>
          </a:solidFill>
          <a:ln w="9525">
            <a:solidFill>
              <a:srgbClr val="F59E0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592366" y="1203127"/>
            <a:ext cx="279350" cy="279350"/>
          </a:xfrm>
          <a:prstGeom prst="roundRect">
            <a:avLst>
              <a:gd name="adj" fmla="val 27278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5700117" y="1276052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947916" y="1271290"/>
            <a:ext cx="51795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图谱可视化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592366" y="1558677"/>
            <a:ext cx="13694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全要素关联图谱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5592366" y="1742777"/>
            <a:ext cx="1369430" cy="2312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spcAft>
                <a:spcPts val="600"/>
              </a:spcAft>
              <a:buNone/>
            </a:pPr>
            <a:r>
              <a:rPr lang="en-US" sz="6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基础研究到产业应用的完整链条一图呈现</a:t>
            </a:r>
            <a:endParaRPr lang="en-US" sz="650" dirty="0"/>
          </a:p>
        </p:txBody>
      </p:sp>
      <p:sp>
        <p:nvSpPr>
          <p:cNvPr id="37" name="Text 35"/>
          <p:cNvSpPr/>
          <p:nvPr/>
        </p:nvSpPr>
        <p:spPr>
          <a:xfrm>
            <a:off x="5592366" y="2067967"/>
            <a:ext cx="1342579" cy="377130"/>
          </a:xfrm>
          <a:prstGeom prst="roundRect">
            <a:avLst>
              <a:gd name="adj" fmla="val 16838"/>
            </a:avLst>
          </a:prstGeom>
          <a:solidFill>
            <a:srgbClr val="10B981">
              <a:alpha val="10000"/>
            </a:srgbClr>
          </a:solidFill>
          <a:ln w="9525">
            <a:solidFill>
              <a:srgbClr val="10B98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5690741" y="2140893"/>
            <a:ext cx="1168744" cy="2312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buNone/>
            </a:pPr>
            <a:r>
              <a:rPr lang="en-US" sz="65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一张图看清整个产业链的关键节点和薄弱环节</a:t>
            </a:r>
            <a:endParaRPr lang="en-US" sz="650" dirty="0"/>
          </a:p>
        </p:txBody>
      </p:sp>
      <p:sp>
        <p:nvSpPr>
          <p:cNvPr id="39" name="Text 37"/>
          <p:cNvSpPr/>
          <p:nvPr/>
        </p:nvSpPr>
        <p:spPr>
          <a:xfrm>
            <a:off x="7147620" y="1066651"/>
            <a:ext cx="1615380" cy="1514921"/>
          </a:xfrm>
          <a:prstGeom prst="roundRect">
            <a:avLst>
              <a:gd name="adj" fmla="val 6707"/>
            </a:avLst>
          </a:prstGeom>
          <a:solidFill>
            <a:srgbClr val="132238"/>
          </a:solidFill>
          <a:ln w="9525">
            <a:solidFill>
              <a:srgbClr val="F59E0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7284095" y="1203127"/>
            <a:ext cx="279350" cy="279350"/>
          </a:xfrm>
          <a:prstGeom prst="roundRect">
            <a:avLst>
              <a:gd name="adj" fmla="val 27278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7391846" y="1276052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639645" y="1271290"/>
            <a:ext cx="4142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自动报告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7284095" y="1558677"/>
            <a:ext cx="136927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Agent生成分析报告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7284095" y="1742777"/>
            <a:ext cx="1369278" cy="115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spcAft>
                <a:spcPts val="600"/>
              </a:spcAft>
              <a:buNone/>
            </a:pPr>
            <a:r>
              <a:rPr lang="en-US" sz="6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30分钟生成全景报告+数据溯源</a:t>
            </a:r>
            <a:endParaRPr lang="en-US" sz="650" dirty="0"/>
          </a:p>
        </p:txBody>
      </p:sp>
      <p:sp>
        <p:nvSpPr>
          <p:cNvPr id="45" name="Text 43"/>
          <p:cNvSpPr/>
          <p:nvPr/>
        </p:nvSpPr>
        <p:spPr>
          <a:xfrm>
            <a:off x="7284095" y="2067967"/>
            <a:ext cx="1342430" cy="377130"/>
          </a:xfrm>
          <a:prstGeom prst="roundRect">
            <a:avLst>
              <a:gd name="adj" fmla="val 16838"/>
            </a:avLst>
          </a:prstGeom>
          <a:solidFill>
            <a:srgbClr val="10B981">
              <a:alpha val="10000"/>
            </a:srgbClr>
          </a:solidFill>
          <a:ln w="9525">
            <a:solidFill>
              <a:srgbClr val="10B98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7382470" y="2140893"/>
            <a:ext cx="1168592" cy="2312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buNone/>
            </a:pPr>
            <a:r>
              <a:rPr lang="en-US" sz="65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每条结论可溯源到具体论文/专利/数据</a:t>
            </a:r>
            <a:endParaRPr lang="en-US" sz="650" dirty="0"/>
          </a:p>
        </p:txBody>
      </p:sp>
      <p:sp>
        <p:nvSpPr>
          <p:cNvPr id="47" name="Text 45"/>
          <p:cNvSpPr/>
          <p:nvPr/>
        </p:nvSpPr>
        <p:spPr>
          <a:xfrm>
            <a:off x="507950" y="2733973"/>
            <a:ext cx="401584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传统方式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507950" y="2908548"/>
            <a:ext cx="3937099" cy="76200"/>
          </a:xfrm>
          <a:prstGeom prst="roundRect">
            <a:avLst>
              <a:gd name="adj" fmla="val 50000"/>
            </a:avLst>
          </a:prstGeom>
          <a:solidFill>
            <a:srgbClr val="E74C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507950" y="3022848"/>
            <a:ext cx="40158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分别查论文库+专利库+企业库，手工整合分析 = 3周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4698950" y="2733973"/>
            <a:ext cx="401584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本系统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4698950" y="2908548"/>
            <a:ext cx="393650" cy="762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4698950" y="3022848"/>
            <a:ext cx="40158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四库联查+六维分析+自动报告 = 2天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92001"/>
            <a:ext cx="895350" cy="333375"/>
          </a:xfrm>
          <a:prstGeom prst="roundRect">
            <a:avLst>
              <a:gd name="adj" fmla="val 30476"/>
            </a:avLst>
          </a:prstGeom>
          <a:solidFill>
            <a:srgbClr val="132238"/>
          </a:solidFill>
          <a:ln w="9525">
            <a:solidFill>
              <a:srgbClr val="06B6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95176" y="377726"/>
            <a:ext cx="53131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U3 周处长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555700" y="306288"/>
            <a:ext cx="352247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资金管理旅程：新能源资助方案制定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07950" y="752326"/>
            <a:ext cx="829066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科技计划管理者视角 — 从需求收集到资金风险零容忍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81000" y="1066651"/>
            <a:ext cx="1615380" cy="1497211"/>
          </a:xfrm>
          <a:prstGeom prst="roundRect">
            <a:avLst>
              <a:gd name="adj" fmla="val 6786"/>
            </a:avLst>
          </a:prstGeom>
          <a:solidFill>
            <a:srgbClr val="132238"/>
          </a:solidFill>
          <a:ln w="9525">
            <a:solidFill>
              <a:srgbClr val="06B6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17475" y="1203127"/>
            <a:ext cx="279350" cy="279350"/>
          </a:xfrm>
          <a:prstGeom prst="roundRect">
            <a:avLst>
              <a:gd name="adj" fmla="val 27278"/>
            </a:avLst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25227" y="1276052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73026" y="1271290"/>
            <a:ext cx="4142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7E8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需求匹配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17475" y="1558677"/>
            <a:ext cx="136927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企业需求智能匹配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517475" y="1742777"/>
            <a:ext cx="1369278" cy="2312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spcAft>
                <a:spcPts val="600"/>
              </a:spcAft>
              <a:buNone/>
            </a:pPr>
            <a:r>
              <a:rPr lang="en-US" sz="6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企业提出技术需求，自动匹配高校/院所/人才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517475" y="2165896"/>
            <a:ext cx="1342430" cy="261491"/>
          </a:xfrm>
          <a:prstGeom prst="roundRect">
            <a:avLst>
              <a:gd name="adj" fmla="val 24284"/>
            </a:avLst>
          </a:prstGeom>
          <a:solidFill>
            <a:srgbClr val="10B981">
              <a:alpha val="10000"/>
            </a:srgbClr>
          </a:solidFill>
          <a:ln w="9525">
            <a:solidFill>
              <a:srgbClr val="10B98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15851" y="2238821"/>
            <a:ext cx="1168592" cy="115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buNone/>
            </a:pPr>
            <a:r>
              <a:rPr lang="en-US" sz="65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政府牵线搭桥效率翻百倍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2072580" y="1066651"/>
            <a:ext cx="1615529" cy="1497211"/>
          </a:xfrm>
          <a:prstGeom prst="roundRect">
            <a:avLst>
              <a:gd name="adj" fmla="val 6786"/>
            </a:avLst>
          </a:prstGeom>
          <a:solidFill>
            <a:srgbClr val="132238"/>
          </a:solidFill>
          <a:ln w="9525">
            <a:solidFill>
              <a:srgbClr val="06B6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209056" y="1203127"/>
            <a:ext cx="279350" cy="279350"/>
          </a:xfrm>
          <a:prstGeom prst="roundRect">
            <a:avLst>
              <a:gd name="adj" fmla="val 27278"/>
            </a:avLst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316807" y="1276052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564606" y="1271290"/>
            <a:ext cx="4142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7E8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发展预测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209056" y="1558677"/>
            <a:ext cx="13694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团队机构3年预测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2209056" y="1742777"/>
            <a:ext cx="1369430" cy="2312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spcAft>
                <a:spcPts val="600"/>
              </a:spcAft>
              <a:buNone/>
            </a:pPr>
            <a:r>
              <a:rPr lang="en-US" sz="6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时间序列+图挖掘预测人才/机构发展轨迹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2209056" y="2050256"/>
            <a:ext cx="1342579" cy="377130"/>
          </a:xfrm>
          <a:prstGeom prst="roundRect">
            <a:avLst>
              <a:gd name="adj" fmla="val 16838"/>
            </a:avLst>
          </a:prstGeom>
          <a:solidFill>
            <a:srgbClr val="10B981">
              <a:alpha val="10000"/>
            </a:srgbClr>
          </a:solidFill>
          <a:ln w="9525">
            <a:solidFill>
              <a:srgbClr val="10B98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307431" y="2123182"/>
            <a:ext cx="1168744" cy="2312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buNone/>
            </a:pPr>
            <a:r>
              <a:rPr lang="en-US" sz="65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提前感知谁会崛起——投入布局领先一步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3764310" y="1066651"/>
            <a:ext cx="1615380" cy="1497211"/>
          </a:xfrm>
          <a:prstGeom prst="roundRect">
            <a:avLst>
              <a:gd name="adj" fmla="val 6786"/>
            </a:avLst>
          </a:prstGeom>
          <a:solidFill>
            <a:srgbClr val="132238"/>
          </a:solidFill>
          <a:ln w="9525">
            <a:solidFill>
              <a:srgbClr val="06B6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900785" y="1203127"/>
            <a:ext cx="279350" cy="279350"/>
          </a:xfrm>
          <a:prstGeom prst="roundRect">
            <a:avLst>
              <a:gd name="adj" fmla="val 27278"/>
            </a:avLst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008537" y="1276052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256336" y="1271290"/>
            <a:ext cx="4142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7E8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资源优化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900785" y="1558677"/>
            <a:ext cx="136927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AI最优资金分配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3900785" y="1742777"/>
            <a:ext cx="1369278" cy="115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spcAft>
                <a:spcPts val="600"/>
              </a:spcAft>
              <a:buNone/>
            </a:pPr>
            <a:r>
              <a:rPr lang="en-US" sz="6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运筹优化模型推荐最优分配方案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3900785" y="2050256"/>
            <a:ext cx="1342430" cy="377130"/>
          </a:xfrm>
          <a:prstGeom prst="roundRect">
            <a:avLst>
              <a:gd name="adj" fmla="val 16838"/>
            </a:avLst>
          </a:prstGeom>
          <a:solidFill>
            <a:srgbClr val="10B981">
              <a:alpha val="10000"/>
            </a:srgbClr>
          </a:solidFill>
          <a:ln w="9525">
            <a:solidFill>
              <a:srgbClr val="10B98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3999161" y="2123182"/>
            <a:ext cx="1168592" cy="2312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buNone/>
            </a:pPr>
            <a:r>
              <a:rPr lang="en-US" sz="65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每分钱花在刀刃上——AI推荐最优方案</a:t>
            </a:r>
            <a:endParaRPr lang="en-US" sz="650" dirty="0"/>
          </a:p>
        </p:txBody>
      </p:sp>
      <p:sp>
        <p:nvSpPr>
          <p:cNvPr id="31" name="Text 29"/>
          <p:cNvSpPr/>
          <p:nvPr/>
        </p:nvSpPr>
        <p:spPr>
          <a:xfrm>
            <a:off x="5455890" y="1066651"/>
            <a:ext cx="1615529" cy="1497211"/>
          </a:xfrm>
          <a:prstGeom prst="roundRect">
            <a:avLst>
              <a:gd name="adj" fmla="val 6786"/>
            </a:avLst>
          </a:prstGeom>
          <a:solidFill>
            <a:srgbClr val="132238"/>
          </a:solidFill>
          <a:ln w="9525">
            <a:solidFill>
              <a:srgbClr val="06B6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592366" y="1203127"/>
            <a:ext cx="279350" cy="279350"/>
          </a:xfrm>
          <a:prstGeom prst="roundRect">
            <a:avLst>
              <a:gd name="adj" fmla="val 27278"/>
            </a:avLst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5700117" y="1276052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947916" y="1271290"/>
            <a:ext cx="4142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7E8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风险预警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592366" y="1558677"/>
            <a:ext cx="13694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资金实时监控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5592366" y="1742777"/>
            <a:ext cx="1369430" cy="2312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spcAft>
                <a:spcPts val="600"/>
              </a:spcAft>
              <a:buNone/>
            </a:pPr>
            <a:r>
              <a:rPr lang="en-US" sz="6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资金跟踪+异常检测+自动预警+处置流程</a:t>
            </a:r>
            <a:endParaRPr lang="en-US" sz="650" dirty="0"/>
          </a:p>
        </p:txBody>
      </p:sp>
      <p:sp>
        <p:nvSpPr>
          <p:cNvPr id="37" name="Text 35"/>
          <p:cNvSpPr/>
          <p:nvPr/>
        </p:nvSpPr>
        <p:spPr>
          <a:xfrm>
            <a:off x="5592366" y="2050256"/>
            <a:ext cx="1342579" cy="377130"/>
          </a:xfrm>
          <a:prstGeom prst="roundRect">
            <a:avLst>
              <a:gd name="adj" fmla="val 16838"/>
            </a:avLst>
          </a:prstGeom>
          <a:solidFill>
            <a:srgbClr val="10B981">
              <a:alpha val="10000"/>
            </a:srgbClr>
          </a:solidFill>
          <a:ln w="9525">
            <a:solidFill>
              <a:srgbClr val="10B98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5690741" y="2123182"/>
            <a:ext cx="1168744" cy="2312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buNone/>
            </a:pPr>
            <a:r>
              <a:rPr lang="en-US" sz="65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科技资金风险降至0——异常自动拉警铃</a:t>
            </a:r>
            <a:endParaRPr lang="en-US" sz="650" dirty="0"/>
          </a:p>
        </p:txBody>
      </p:sp>
      <p:sp>
        <p:nvSpPr>
          <p:cNvPr id="39" name="Text 37"/>
          <p:cNvSpPr/>
          <p:nvPr/>
        </p:nvSpPr>
        <p:spPr>
          <a:xfrm>
            <a:off x="7147620" y="1066651"/>
            <a:ext cx="1615380" cy="1497211"/>
          </a:xfrm>
          <a:prstGeom prst="roundRect">
            <a:avLst>
              <a:gd name="adj" fmla="val 6786"/>
            </a:avLst>
          </a:prstGeom>
          <a:solidFill>
            <a:srgbClr val="132238"/>
          </a:solidFill>
          <a:ln w="9525">
            <a:solidFill>
              <a:srgbClr val="06B6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7284095" y="1203127"/>
            <a:ext cx="279350" cy="279350"/>
          </a:xfrm>
          <a:prstGeom prst="roundRect">
            <a:avLst>
              <a:gd name="adj" fmla="val 27278"/>
            </a:avLst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7391846" y="1276052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639645" y="1271290"/>
            <a:ext cx="4142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7E8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自动流转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7284095" y="1558677"/>
            <a:ext cx="136927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决策全链路自动化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7284095" y="1742777"/>
            <a:ext cx="1369278" cy="2312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spcAft>
                <a:spcPts val="600"/>
              </a:spcAft>
              <a:buNone/>
            </a:pPr>
            <a:r>
              <a:rPr lang="en-US" sz="6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任务分派到报告生成到审批流转全部自动</a:t>
            </a:r>
            <a:endParaRPr lang="en-US" sz="650" dirty="0"/>
          </a:p>
        </p:txBody>
      </p:sp>
      <p:sp>
        <p:nvSpPr>
          <p:cNvPr id="45" name="Text 43"/>
          <p:cNvSpPr/>
          <p:nvPr/>
        </p:nvSpPr>
        <p:spPr>
          <a:xfrm>
            <a:off x="7284095" y="2050256"/>
            <a:ext cx="1342430" cy="377130"/>
          </a:xfrm>
          <a:prstGeom prst="roundRect">
            <a:avLst>
              <a:gd name="adj" fmla="val 16838"/>
            </a:avLst>
          </a:prstGeom>
          <a:solidFill>
            <a:srgbClr val="10B981">
              <a:alpha val="10000"/>
            </a:srgbClr>
          </a:solidFill>
          <a:ln w="9525">
            <a:solidFill>
              <a:srgbClr val="10B98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7382470" y="2123182"/>
            <a:ext cx="1168592" cy="2312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buNone/>
            </a:pPr>
            <a:r>
              <a:rPr lang="en-US" sz="65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从"写方案等审批"到"一键全自动流转"</a:t>
            </a:r>
            <a:endParaRPr lang="en-US" sz="650" dirty="0"/>
          </a:p>
        </p:txBody>
      </p:sp>
      <p:sp>
        <p:nvSpPr>
          <p:cNvPr id="47" name="Text 45"/>
          <p:cNvSpPr/>
          <p:nvPr/>
        </p:nvSpPr>
        <p:spPr>
          <a:xfrm>
            <a:off x="507950" y="2716262"/>
            <a:ext cx="401584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传统方式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507950" y="2890838"/>
            <a:ext cx="3937099" cy="76200"/>
          </a:xfrm>
          <a:prstGeom prst="roundRect">
            <a:avLst>
              <a:gd name="adj" fmla="val 50000"/>
            </a:avLst>
          </a:prstGeom>
          <a:solidFill>
            <a:srgbClr val="E74C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507950" y="3005138"/>
            <a:ext cx="40158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方案制定3周 + 多部门协调 + 手动审批 = 1个月以上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4698950" y="2716262"/>
            <a:ext cx="401584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本系统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4698950" y="2890838"/>
            <a:ext cx="393650" cy="762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4698950" y="3005138"/>
            <a:ext cx="40158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智能匹配+AI分析+自动流转 = 2天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17A2B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66700"/>
            <a:ext cx="8290661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系统价值总结 — 效率革命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07950" y="619125"/>
            <a:ext cx="829066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DA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每类用户获得的核心变革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7950" y="965150"/>
            <a:ext cx="634901" cy="25301"/>
          </a:xfrm>
          <a:prstGeom prst="rect">
            <a:avLst/>
          </a:prstGeom>
          <a:solidFill>
            <a:srgbClr val="17A2B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06301" y="1091952"/>
            <a:ext cx="2990850" cy="882402"/>
          </a:xfrm>
          <a:prstGeom prst="roundRect">
            <a:avLst>
              <a:gd name="adj" fmla="val 8636"/>
            </a:avLst>
          </a:prstGeom>
          <a:solidFill>
            <a:srgbClr val="132238"/>
          </a:solidFill>
          <a:ln w="9525">
            <a:solidFill>
              <a:srgbClr val="17A2B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68226" y="1307753"/>
            <a:ext cx="272034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U1 张局长 | 决策者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568226" y="1456879"/>
            <a:ext cx="272034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决策周期：6周 → 1小时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68226" y="1644104"/>
            <a:ext cx="272034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从"拍脑袋"到"数据驱动精准决策"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3498652" y="1091952"/>
            <a:ext cx="2990850" cy="882402"/>
          </a:xfrm>
          <a:prstGeom prst="roundRect">
            <a:avLst>
              <a:gd name="adj" fmla="val 8636"/>
            </a:avLst>
          </a:prstGeom>
          <a:solidFill>
            <a:srgbClr val="132238"/>
          </a:solidFill>
          <a:ln w="9525">
            <a:solidFill>
              <a:srgbClr val="17A2B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660577" y="1307753"/>
            <a:ext cx="272034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U2 李研究员 | 分析师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3660577" y="1456879"/>
            <a:ext cx="272034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报告效率：提升20倍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60577" y="1644104"/>
            <a:ext cx="272034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从"手工查5个平台"到"AI全搞定"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406301" y="2075855"/>
            <a:ext cx="2990850" cy="882402"/>
          </a:xfrm>
          <a:prstGeom prst="roundRect">
            <a:avLst>
              <a:gd name="adj" fmla="val 8636"/>
            </a:avLst>
          </a:prstGeom>
          <a:solidFill>
            <a:srgbClr val="132238"/>
          </a:solidFill>
          <a:ln w="9525">
            <a:solidFill>
              <a:srgbClr val="17A2B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68226" y="2291655"/>
            <a:ext cx="272034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U3 周处长 | 管理者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568226" y="2440781"/>
            <a:ext cx="272034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资金监管：风险 → 零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68226" y="2628007"/>
            <a:ext cx="272034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从"算不清账"到"每笔资金有产出账本"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3498652" y="2075855"/>
            <a:ext cx="2990850" cy="882402"/>
          </a:xfrm>
          <a:prstGeom prst="roundRect">
            <a:avLst>
              <a:gd name="adj" fmla="val 8636"/>
            </a:avLst>
          </a:prstGeom>
          <a:solidFill>
            <a:srgbClr val="132238"/>
          </a:solidFill>
          <a:ln w="9525">
            <a:solidFill>
              <a:srgbClr val="17A2B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660577" y="2291655"/>
            <a:ext cx="272034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U4 王教授 | 科研人员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3660577" y="2440781"/>
            <a:ext cx="272034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文献阅读：3小时 → 30分钟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660577" y="2628007"/>
            <a:ext cx="272034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从"人找文献"到"文献找人+AI科研"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406301" y="3059757"/>
            <a:ext cx="2990850" cy="882402"/>
          </a:xfrm>
          <a:prstGeom prst="roundRect">
            <a:avLst>
              <a:gd name="adj" fmla="val 8636"/>
            </a:avLst>
          </a:prstGeom>
          <a:solidFill>
            <a:srgbClr val="132238"/>
          </a:solidFill>
          <a:ln w="9525">
            <a:solidFill>
              <a:srgbClr val="17A2B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68226" y="3275558"/>
            <a:ext cx="272034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U5 陈博士 | 产业研究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568226" y="3424684"/>
            <a:ext cx="272034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分析深度：单维 → 六维穿透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68226" y="3611910"/>
            <a:ext cx="272034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从"分别查各库"到"一次穿透全要素"</a:t>
            </a: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3498652" y="3059757"/>
            <a:ext cx="2990850" cy="882402"/>
          </a:xfrm>
          <a:prstGeom prst="roundRect">
            <a:avLst>
              <a:gd name="adj" fmla="val 8636"/>
            </a:avLst>
          </a:prstGeom>
          <a:solidFill>
            <a:srgbClr val="132238"/>
          </a:solidFill>
          <a:ln w="9525">
            <a:solidFill>
              <a:srgbClr val="17A2B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3660577" y="3275558"/>
            <a:ext cx="272034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U6/U7/U8 | 运营/数据/学生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3660577" y="3424684"/>
            <a:ext cx="272034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全场景一站式覆盖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660577" y="3611910"/>
            <a:ext cx="272034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活动运营/数据治理/科研社区全面赋能</a:t>
            </a:r>
            <a:endParaRPr lang="en-US" sz="650" dirty="0"/>
          </a:p>
        </p:txBody>
      </p:sp>
      <p:sp>
        <p:nvSpPr>
          <p:cNvPr id="30" name="Text 28"/>
          <p:cNvSpPr/>
          <p:nvPr/>
        </p:nvSpPr>
        <p:spPr>
          <a:xfrm>
            <a:off x="507950" y="4043660"/>
            <a:ext cx="8128099" cy="425351"/>
          </a:xfrm>
          <a:prstGeom prst="roundRect">
            <a:avLst>
              <a:gd name="adj" fmla="val 17915"/>
            </a:avLst>
          </a:prstGeom>
          <a:solidFill>
            <a:srgbClr val="17A2B8">
              <a:alpha val="8000"/>
            </a:srgbClr>
          </a:solidFill>
          <a:ln w="9525">
            <a:solidFill>
              <a:srgbClr val="17A2B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720626" y="4180136"/>
            <a:ext cx="785680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核心结论：</a:t>
            </a:r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本系统不是"更大的数据库"，而是"会思考、会发现、会推荐、会写报告"的科技情报大脑。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深圳国际科技信息中心 — 用户画像与用户旅程</dc:title>
  <dc:subject>PptxGenJS Presentation</dc:subject>
  <dc:creator>Shenzhen STIB</dc:creator>
  <cp:lastModifiedBy>Shenzhen STIB</cp:lastModifiedBy>
  <cp:revision>1</cp:revision>
  <dcterms:created xsi:type="dcterms:W3CDTF">2026-03-04T07:15:48Z</dcterms:created>
  <dcterms:modified xsi:type="dcterms:W3CDTF">2026-03-04T07:15:48Z</dcterms:modified>
</cp:coreProperties>
</file>